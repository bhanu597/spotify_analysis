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3FE0-1EB3-CD0C-8ADA-722D465EF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EC3F8-CF46-B4B3-737B-935C4F98C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85533-ECA9-DD65-D856-A989DA46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51B7-A4B9-591F-A2E9-E070CC2FD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14C26-AA63-0724-DD09-511FF37B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0DA5-2769-12A6-95E3-0B4528D0E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15B62-1C11-F0A8-AE52-3824376E4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BDC5A-CAF6-839D-9FF4-94725397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F8F53-FF97-FF2E-39C8-388845968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BE686-2320-2154-EC19-49BDFFA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2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C1C0-177D-970A-C6E7-7869EA0C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E8193-4A67-6ADB-5598-B696ADE60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E60E8-BA3C-BE58-16B4-57BC4814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C2B15-0102-D633-93E5-FEB2A16A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F8300-5007-16D5-02D4-2D0D734A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ACD9-323F-A6A6-0953-7C1ECE7F3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1FD4-305F-7467-A4D7-5EE7291A0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F6A63-03ED-D1F6-5DBD-F57B761DB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DA903-43FE-959E-707B-8EEB48A0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9834F-2AC7-9510-9792-47B8BA72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0778C-277B-62D9-0FA8-5D584686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666D-0888-E1B6-BF5A-09F07119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ECE4A-569E-A646-920E-09241FA09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4EA5-7973-AE57-E0FD-E08CF0E7C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F3829-899C-1D7E-00AC-46D11AA1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9D3E2-FF8D-A3C8-E530-5E8A7E5A7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0E7B7-112D-2135-548C-C83673AB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A99E1C-887D-6CAA-0648-3F5265A5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718E6D-DDED-7199-DED6-1B414740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055F6-54AB-E0F8-B672-C306CC1F8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3CFAE8-2CF4-3091-706E-384DB4DC0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8723C-F583-8674-7175-915D9667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4A7BD-72B4-BED0-CAE3-BBFB5EEA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1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7717A-9125-B14B-FBBF-8E3ED416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2C101D-70FE-7E2B-FBD9-1A1C2F13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FBD35-663F-7007-625E-D296ECD1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7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B618-CBE2-08D1-7F38-3369D6044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F8D22-555B-3032-8BC7-52991BD28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A8E13-691B-C620-EBCD-D34D7F53F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02920-9F16-A43D-9666-88CD7BB3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21A83-B5FC-FB19-FF94-7762D428C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36559-1CB2-E8C8-D0C9-B4BB0123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0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42A9-C6DA-2FDA-0359-5B30E989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4188C-49A5-B10C-526B-4E4121BA7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50BE7-7960-D4AB-961F-20FA74B9D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CAB8-0A19-F397-48E7-50D452EF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F665A-4075-05ED-3197-A0ED60564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2E3F0-F1F0-2DE1-2E17-AAC46C56A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0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64EC-B0C7-6AA5-1188-1F648713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9DFB5-B3DE-0B19-5532-5CC8D06D2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A711C-44EF-A373-6DD9-F9B6A2F36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AF648-4E4F-456C-91DE-27FA142F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65CCD-B34C-C3B2-20F7-F289B67C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3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0AF56E-4C89-0476-04A7-AB28F63D0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C4FB7-79ED-8FF2-A60D-8ACBC5986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1A181-4B5D-068F-529D-9FD297E1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D0C2B-935E-7063-6209-2AA8CB04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F3CE0-9FF0-56BB-CC09-10D175A6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7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5000"/>
            <a:lum/>
          </a:blip>
          <a:srcRect/>
          <a:stretch>
            <a:fillRect t="-44000" b="-4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1BE47-13CE-5E42-FBF9-BB171BE8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8585C-D12F-7CA1-FA82-D90ECE7E9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29092-F7B6-2A3C-7D1C-AE176ACF1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A39FB-90FC-434C-81B9-D392253F54C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0D9A1-C3DF-4180-6F34-988323DD2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68BB1-9DAE-39D3-4430-2F307EA34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DC24E-E76C-491F-A294-AF31EC644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18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B55B-086E-6626-D30A-4020B3A2E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6698"/>
            <a:ext cx="9144000" cy="175848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Data-Driven Analysis of Spotify Hits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45A9F-CF71-36AE-E2D6-D35311245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2837"/>
            <a:ext cx="9104671" cy="162969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Song Insights from Spotify Streams Dataset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Bhanu Pratap Singh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09 Feb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73169-3D8B-15CC-B4C3-D42E5CCA26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424" y="0"/>
            <a:ext cx="906576" cy="86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5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D6E0-6B15-74D8-210C-B5C2FBED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83080"/>
            <a:ext cx="2386781" cy="74592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1DE03-FEA5-73C6-DAD4-1262383E1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67432"/>
            <a:ext cx="10515600" cy="22151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Context &amp; Objective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 Popularity &amp; Key Drivers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Discovery Platforms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&amp; Strategy Takeaways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Appendix: Methodology &amp; Assumptions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9A8CF2-0353-52E0-F37C-F3090ABFBB41}"/>
              </a:ext>
            </a:extLst>
          </p:cNvPr>
          <p:cNvSpPr/>
          <p:nvPr/>
        </p:nvSpPr>
        <p:spPr>
          <a:xfrm>
            <a:off x="733338" y="3667431"/>
            <a:ext cx="104862" cy="433920"/>
          </a:xfrm>
          <a:prstGeom prst="rect">
            <a:avLst/>
          </a:prstGeom>
          <a:solidFill>
            <a:srgbClr val="2C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D31249-FCB3-FA5A-C13E-A878136D206A}"/>
              </a:ext>
            </a:extLst>
          </p:cNvPr>
          <p:cNvSpPr/>
          <p:nvPr/>
        </p:nvSpPr>
        <p:spPr>
          <a:xfrm>
            <a:off x="733338" y="4122824"/>
            <a:ext cx="104862" cy="433920"/>
          </a:xfrm>
          <a:prstGeom prst="rect">
            <a:avLst/>
          </a:prstGeom>
          <a:solidFill>
            <a:srgbClr val="395B64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B0B79-65B1-7F18-5967-11772A8798E8}"/>
              </a:ext>
            </a:extLst>
          </p:cNvPr>
          <p:cNvSpPr/>
          <p:nvPr/>
        </p:nvSpPr>
        <p:spPr>
          <a:xfrm>
            <a:off x="733338" y="4556743"/>
            <a:ext cx="104862" cy="433920"/>
          </a:xfrm>
          <a:prstGeom prst="rect">
            <a:avLst/>
          </a:prstGeom>
          <a:solidFill>
            <a:srgbClr val="A5C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A6F523-C73A-87F6-953C-748279125509}"/>
              </a:ext>
            </a:extLst>
          </p:cNvPr>
          <p:cNvSpPr/>
          <p:nvPr/>
        </p:nvSpPr>
        <p:spPr>
          <a:xfrm>
            <a:off x="733338" y="4990662"/>
            <a:ext cx="104862" cy="433920"/>
          </a:xfrm>
          <a:prstGeom prst="rect">
            <a:avLst/>
          </a:prstGeom>
          <a:solidFill>
            <a:srgbClr val="E7AB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68751-84CD-FDEB-E730-3BCAB1CA8180}"/>
              </a:ext>
            </a:extLst>
          </p:cNvPr>
          <p:cNvSpPr/>
          <p:nvPr/>
        </p:nvSpPr>
        <p:spPr>
          <a:xfrm>
            <a:off x="733338" y="5448653"/>
            <a:ext cx="104862" cy="4339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051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9EC5-0A3D-6562-A8D9-EBA1A792A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76558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Context &amp; Objective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C3C9-B1E7-6E17-DDDD-E0CB1728A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5890" cy="3759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 is a leading global music streaming platform that enables artists to distribute music to millions of listeners worldwide.</a:t>
            </a:r>
            <a:b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millions of tracks released annually, only a small share achieve meaningful reach, making data-driven decision-making critical. </a:t>
            </a:r>
          </a:p>
          <a:p>
            <a:pPr marL="0" indent="0">
              <a:buNone/>
            </a:pPr>
            <a:endParaRPr lang="en-US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Thus, Spotify wants to know actionable recommendations to identify and promote trending songs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18E813-627D-A93B-6724-F049E6C3D83E}"/>
              </a:ext>
            </a:extLst>
          </p:cNvPr>
          <p:cNvSpPr/>
          <p:nvPr/>
        </p:nvSpPr>
        <p:spPr>
          <a:xfrm>
            <a:off x="733338" y="501460"/>
            <a:ext cx="104862" cy="433920"/>
          </a:xfrm>
          <a:prstGeom prst="rect">
            <a:avLst/>
          </a:prstGeom>
          <a:solidFill>
            <a:srgbClr val="2C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668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5628"/>
            <a:ext cx="7047271" cy="765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 Popularity &amp; Key Drivers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2"/>
            <a:ext cx="4864510" cy="3877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Defining Song Popularity: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Popularity measured using-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Streams per Year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Adjusts for release year bias</a:t>
            </a:r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Songs in top 25% labeled as Popular Songs</a:t>
            </a:r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Focuses on adjusted performance, not lifetime accumulation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645756-00CC-E1B7-A474-DC3A38DF65C9}"/>
              </a:ext>
            </a:extLst>
          </p:cNvPr>
          <p:cNvSpPr/>
          <p:nvPr/>
        </p:nvSpPr>
        <p:spPr>
          <a:xfrm>
            <a:off x="733338" y="464077"/>
            <a:ext cx="104862" cy="433920"/>
          </a:xfrm>
          <a:prstGeom prst="rect">
            <a:avLst/>
          </a:prstGeom>
          <a:solidFill>
            <a:srgbClr val="395B64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D548A6-0DB4-37C4-626A-1E5E25EE3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757" y="1855121"/>
            <a:ext cx="4220164" cy="387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4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7096432" cy="765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 Popularity &amp; Key Drivers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788374"/>
            <a:ext cx="4548496" cy="26055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Rhythm and Intensity Trends</a:t>
            </a:r>
          </a:p>
          <a:p>
            <a:pPr marL="0" indent="0">
              <a:buNone/>
            </a:pP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Audio Features for Hits: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BPM: 11% increase vs last year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Energy: 15% increase: strong YoY increase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Danceability: 7% decrease: slight decline but remains structurally high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645756-00CC-E1B7-A474-DC3A38DF65C9}"/>
              </a:ext>
            </a:extLst>
          </p:cNvPr>
          <p:cNvSpPr/>
          <p:nvPr/>
        </p:nvSpPr>
        <p:spPr>
          <a:xfrm>
            <a:off x="733338" y="464077"/>
            <a:ext cx="104862" cy="433920"/>
          </a:xfrm>
          <a:prstGeom prst="rect">
            <a:avLst/>
          </a:prstGeom>
          <a:solidFill>
            <a:srgbClr val="395B64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16400C-78B0-5C7F-894B-90FEC2AB5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69" y="1026446"/>
            <a:ext cx="6490673" cy="23495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86F856-F424-49D4-1E3E-01A3A9910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696" y="3504396"/>
            <a:ext cx="6569329" cy="29960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99261F-5B12-E1F9-7E01-18295C8D6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631" y="1026446"/>
            <a:ext cx="4056631" cy="23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9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7076768" cy="765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 Popularity &amp; Key Drivers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69" y="1229661"/>
            <a:ext cx="10118206" cy="24771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Audio Texture and Expressiveness Trends for Popular Songs:</a:t>
            </a:r>
          </a:p>
          <a:p>
            <a:pPr marL="0" indent="0">
              <a:buNone/>
            </a:pP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Audio Features for Hits: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Valence: 162% decrease vs last year: Sharp decline after constant increase YoY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Acousticness: 141% decrease vs last year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Liveness: 77% decrease: slight decline but remains structurally moderate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Speechiness: 77% decrease but structurally low and constant.</a:t>
            </a:r>
          </a:p>
          <a:p>
            <a:pPr fontAlgn="base">
              <a:spcAft>
                <a:spcPct val="0"/>
              </a:spcAft>
            </a:pPr>
            <a:endParaRPr lang="en-US" altLang="en-US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spcAft>
                <a:spcPct val="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645756-00CC-E1B7-A474-DC3A38DF65C9}"/>
              </a:ext>
            </a:extLst>
          </p:cNvPr>
          <p:cNvSpPr/>
          <p:nvPr/>
        </p:nvSpPr>
        <p:spPr>
          <a:xfrm>
            <a:off x="733338" y="464077"/>
            <a:ext cx="104862" cy="433920"/>
          </a:xfrm>
          <a:prstGeom prst="rect">
            <a:avLst/>
          </a:prstGeom>
          <a:solidFill>
            <a:srgbClr val="395B64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97924D-6FE1-E914-401A-6DF6C70C3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38" y="3835210"/>
            <a:ext cx="10819565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63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5628"/>
            <a:ext cx="7106265" cy="765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 Popularity &amp; Key Drivers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958"/>
            <a:ext cx="3930446" cy="3883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Artists Impact on Song Popularity:</a:t>
            </a:r>
          </a:p>
          <a:p>
            <a:pPr marL="0" indent="0"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artists consistently contribute multiple popular tracks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Popularity is not evenly distributed across artists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small group of artists dominate hit creation</a:t>
            </a:r>
          </a:p>
          <a:p>
            <a:pPr fontAlgn="base">
              <a:spcAft>
                <a:spcPct val="0"/>
              </a:spcAf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645756-00CC-E1B7-A474-DC3A38DF65C9}"/>
              </a:ext>
            </a:extLst>
          </p:cNvPr>
          <p:cNvSpPr/>
          <p:nvPr/>
        </p:nvSpPr>
        <p:spPr>
          <a:xfrm>
            <a:off x="733338" y="464077"/>
            <a:ext cx="104862" cy="433920"/>
          </a:xfrm>
          <a:prstGeom prst="rect">
            <a:avLst/>
          </a:prstGeom>
          <a:solidFill>
            <a:srgbClr val="395B64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3E931-B70F-864E-D99F-2798B423E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383" y="1563957"/>
            <a:ext cx="3550257" cy="434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3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6467168" cy="765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Discovery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70" y="1789470"/>
            <a:ext cx="3412604" cy="39132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Songs don’t become popular instantly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 platforms amplify momentum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analyzed Spotify Charts, Shazam Charts, and Spotify Playlists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4E71C-A46B-B354-CC67-F97CF81025E7}"/>
              </a:ext>
            </a:extLst>
          </p:cNvPr>
          <p:cNvSpPr/>
          <p:nvPr/>
        </p:nvSpPr>
        <p:spPr>
          <a:xfrm>
            <a:off x="680907" y="464077"/>
            <a:ext cx="104862" cy="433920"/>
          </a:xfrm>
          <a:prstGeom prst="rect">
            <a:avLst/>
          </a:prstGeom>
          <a:solidFill>
            <a:srgbClr val="A5C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2595B-264B-1582-337A-8B0C7468518D}"/>
              </a:ext>
            </a:extLst>
          </p:cNvPr>
          <p:cNvSpPr txBox="1"/>
          <p:nvPr/>
        </p:nvSpPr>
        <p:spPr>
          <a:xfrm flipH="1">
            <a:off x="7492180" y="2015613"/>
            <a:ext cx="1710814" cy="3065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Song </a:t>
            </a:r>
          </a:p>
          <a:p>
            <a:pPr algn="ctr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Charts</a:t>
            </a:r>
          </a:p>
          <a:p>
            <a:pPr algn="ctr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Playlists</a:t>
            </a:r>
          </a:p>
          <a:p>
            <a:pPr algn="ctr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Streams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58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6467168" cy="765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Discovery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70" y="1789471"/>
            <a:ext cx="4051701" cy="3156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Spotify Charts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 songs show higher chart presence across most years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exposure spikes align with higher average streams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Charts and Playlists amplify existing momentum rather than create 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4E71C-A46B-B354-CC67-F97CF81025E7}"/>
              </a:ext>
            </a:extLst>
          </p:cNvPr>
          <p:cNvSpPr/>
          <p:nvPr/>
        </p:nvSpPr>
        <p:spPr>
          <a:xfrm>
            <a:off x="680907" y="464077"/>
            <a:ext cx="104862" cy="433920"/>
          </a:xfrm>
          <a:prstGeom prst="rect">
            <a:avLst/>
          </a:prstGeom>
          <a:solidFill>
            <a:srgbClr val="A5C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F9E2C1-BCD3-BB28-5E31-BF6CCB19B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53" y="5041327"/>
            <a:ext cx="9713692" cy="1674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EB1B0-B359-DF36-523D-E286DDF8C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48204"/>
            <a:ext cx="518232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2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6477000" cy="765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Discovery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70" y="1789471"/>
            <a:ext cx="4405662" cy="3156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Shazam Charts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 songs show sharp growth in Shazam presence in recent years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Shazam acts earlier in the discovery funnel than Spotify charts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organic listener-driven discovery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4E71C-A46B-B354-CC67-F97CF81025E7}"/>
              </a:ext>
            </a:extLst>
          </p:cNvPr>
          <p:cNvSpPr/>
          <p:nvPr/>
        </p:nvSpPr>
        <p:spPr>
          <a:xfrm>
            <a:off x="680907" y="464077"/>
            <a:ext cx="104862" cy="433920"/>
          </a:xfrm>
          <a:prstGeom prst="rect">
            <a:avLst/>
          </a:prstGeom>
          <a:solidFill>
            <a:srgbClr val="A5C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9FAFA1-ADEA-25C4-7296-1544312A2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69" y="4847303"/>
            <a:ext cx="10449209" cy="18681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02907D-CE3A-BDCE-63C3-076C125B1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05362"/>
            <a:ext cx="5134692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96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5628"/>
            <a:ext cx="6506497" cy="765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Discovery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70" y="1789471"/>
            <a:ext cx="4336836" cy="3156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Spotify Playlists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playlist exposure correlates with significantly higher streams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 songs benefit disproportionately from playlist inclusion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Playlists act as scaling mechanisms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4E71C-A46B-B354-CC67-F97CF81025E7}"/>
              </a:ext>
            </a:extLst>
          </p:cNvPr>
          <p:cNvSpPr/>
          <p:nvPr/>
        </p:nvSpPr>
        <p:spPr>
          <a:xfrm>
            <a:off x="680907" y="464077"/>
            <a:ext cx="104862" cy="433920"/>
          </a:xfrm>
          <a:prstGeom prst="rect">
            <a:avLst/>
          </a:prstGeom>
          <a:solidFill>
            <a:srgbClr val="A5C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E93016-4014-96E1-25D4-CDC11CAFB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52219"/>
            <a:ext cx="10423003" cy="1892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392CBD-CE18-9160-5F9A-B017D3A08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52498"/>
            <a:ext cx="4220164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43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5628"/>
            <a:ext cx="7883014" cy="76558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&amp; Strategy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70" y="1789471"/>
            <a:ext cx="3864888" cy="37165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Popularity Is Built: A Funnel 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Audio Features &amp; BPM → Create listener appeal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Artists → Enable repeat success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Shazam → Early discovery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 Charts → Momentum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Playlists → Scale &amp; sustain popularity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A54CD-4ABA-F317-C202-1F545646517F}"/>
              </a:ext>
            </a:extLst>
          </p:cNvPr>
          <p:cNvSpPr/>
          <p:nvPr/>
        </p:nvSpPr>
        <p:spPr>
          <a:xfrm>
            <a:off x="733339" y="501460"/>
            <a:ext cx="104862" cy="433920"/>
          </a:xfrm>
          <a:prstGeom prst="rect">
            <a:avLst/>
          </a:prstGeom>
          <a:solidFill>
            <a:srgbClr val="E7AB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9BCF07-B5B7-BA93-A449-B8E1BDD83054}"/>
              </a:ext>
            </a:extLst>
          </p:cNvPr>
          <p:cNvSpPr txBox="1">
            <a:spLocks/>
          </p:cNvSpPr>
          <p:nvPr/>
        </p:nvSpPr>
        <p:spPr>
          <a:xfrm>
            <a:off x="6660544" y="1789471"/>
            <a:ext cx="3864888" cy="37165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 songs might grow faster and more energetic over 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small number of artists dominate hit creation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Shazam enables early discovery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 charts &amp; playlists amplify momentum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Playlists scale successful songs to mass audiences</a:t>
            </a:r>
          </a:p>
        </p:txBody>
      </p:sp>
    </p:spTree>
    <p:extLst>
      <p:ext uri="{BB962C8B-B14F-4D97-AF65-F5344CB8AC3E}">
        <p14:creationId xmlns:p14="http://schemas.microsoft.com/office/powerpoint/2010/main" val="2795425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18A2-80EA-D441-2B88-8717DB9A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5628"/>
            <a:ext cx="9033388" cy="76558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Appendix: Methodology &amp;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D3B2-567F-49C6-7812-ABD53B59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70" y="1789471"/>
            <a:ext cx="4745688" cy="37165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Assumptions &amp; Limitations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Repeating song identifiers across source tables required removal of duplicated Song IDs to preserve one-to-one join integrity.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 popularity is defined as the top 25% by average annual streams.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is limited to releases from 2011–2025 to ensure relevance to the modern streaming landscape.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Correlation-based findings indicate association and should not be interpreted as causal relationships.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9BCF07-B5B7-BA93-A449-B8E1BDD83054}"/>
              </a:ext>
            </a:extLst>
          </p:cNvPr>
          <p:cNvSpPr txBox="1">
            <a:spLocks/>
          </p:cNvSpPr>
          <p:nvPr/>
        </p:nvSpPr>
        <p:spPr>
          <a:xfrm>
            <a:off x="6660543" y="1789470"/>
            <a:ext cx="5098837" cy="3716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Appendix: 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(Refer Attached Files on mail)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</a:p>
          <a:p>
            <a:pPr>
              <a:lnSpc>
                <a:spcPct val="7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&amp; Feature engineering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 and Statistical Analysis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Model: Logistic Regression</a:t>
            </a:r>
          </a:p>
          <a:p>
            <a:pPr marL="0" indent="0">
              <a:lnSpc>
                <a:spcPct val="70000"/>
              </a:lnSpc>
              <a:buNone/>
            </a:pPr>
            <a:endParaRPr lang="en-US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YoY analysis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Visuals &amp; Dashboarding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EE638D-8BEE-36F2-7396-7328C0CE8CE6}"/>
              </a:ext>
            </a:extLst>
          </p:cNvPr>
          <p:cNvSpPr/>
          <p:nvPr/>
        </p:nvSpPr>
        <p:spPr>
          <a:xfrm>
            <a:off x="722694" y="501460"/>
            <a:ext cx="104862" cy="4339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0938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B55B-086E-6626-D30A-4020B3A2E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5" y="3352800"/>
            <a:ext cx="3441290" cy="1042219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45A9F-CF71-36AE-E2D6-D35311245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0994"/>
            <a:ext cx="2762865" cy="924232"/>
          </a:xfrm>
        </p:spPr>
        <p:txBody>
          <a:bodyPr>
            <a:normAutofit fontScale="92500"/>
          </a:bodyPr>
          <a:lstStyle/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Bhanu Pratap Singh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73169-3D8B-15CC-B4C3-D42E5CCA26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424" y="0"/>
            <a:ext cx="906576" cy="86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0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581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Data-Driven Analysis of Spotify Hits</vt:lpstr>
      <vt:lpstr>AGENDA</vt:lpstr>
      <vt:lpstr>Business Context &amp; Objective</vt:lpstr>
      <vt:lpstr>Song Popularity &amp; Key Drivers</vt:lpstr>
      <vt:lpstr>Song Popularity &amp; Key Drivers</vt:lpstr>
      <vt:lpstr>Song Popularity &amp; Key Drivers</vt:lpstr>
      <vt:lpstr>Song Popularity &amp; Key Drivers</vt:lpstr>
      <vt:lpstr>Role of Discovery Platforms</vt:lpstr>
      <vt:lpstr>Role of Discovery Platforms</vt:lpstr>
      <vt:lpstr>Role of Discovery Platforms</vt:lpstr>
      <vt:lpstr>Role of Discovery Platforms</vt:lpstr>
      <vt:lpstr>Conclusion &amp; Strategy Takeaways</vt:lpstr>
      <vt:lpstr>Appendix: Methodology &amp; Assumptions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Analysis of Spotify Hits</dc:title>
  <dc:creator>bhanu pratap singh</dc:creator>
  <cp:lastModifiedBy>bhanu pratap singh</cp:lastModifiedBy>
  <cp:revision>4</cp:revision>
  <dcterms:created xsi:type="dcterms:W3CDTF">2026-02-07T11:39:24Z</dcterms:created>
  <dcterms:modified xsi:type="dcterms:W3CDTF">2026-02-08T18:59:14Z</dcterms:modified>
</cp:coreProperties>
</file>